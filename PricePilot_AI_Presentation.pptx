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47D92"/>
            </a:solidFill>
          </c:spPr>
          <c:cat>
            <c:strRef>
              <c:f>Sheet1!$A$2:$A$5</c:f>
              <c:strCache>
                <c:ptCount val="4"/>
                <c:pt idx="0">
                  <c:v>Mean baseline</c:v>
                </c:pt>
                <c:pt idx="1">
                  <c:v>Linear Regression</c:v>
                </c:pt>
                <c:pt idx="2">
                  <c:v>Random Forest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-0.005</c:v>
                </c:pt>
                <c:pt idx="1">
                  <c:v>0.723</c:v>
                </c:pt>
                <c:pt idx="2">
                  <c:v>0.747</c:v>
                </c:pt>
                <c:pt idx="3">
                  <c:v>0.762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revenue</c:v>
                </c:pt>
              </c:strCache>
            </c:strRef>
          </c:tx>
          <c:spPr>
            <a:ln>
              <a:solidFill>
                <a:srgbClr val="147D92"/>
              </a:solidFill>
            </a:ln>
          </c:spPr>
          <c:cat>
            <c:strRef>
              <c:f>Sheet1!$A$2:$A$7</c:f>
              <c:strCache>
                <c:ptCount val="6"/>
                <c:pt idx="0">
                  <c:v>$20</c:v>
                </c:pt>
                <c:pt idx="1">
                  <c:v>$22</c:v>
                </c:pt>
                <c:pt idx="2">
                  <c:v>$24</c:v>
                </c:pt>
                <c:pt idx="3">
                  <c:v>$26</c:v>
                </c:pt>
                <c:pt idx="4">
                  <c:v>$28</c:v>
                </c:pt>
                <c:pt idx="5">
                  <c:v>$30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3900</c:v>
                </c:pt>
                <c:pt idx="1">
                  <c:v>4300</c:v>
                </c:pt>
                <c:pt idx="2">
                  <c:v>4550</c:v>
                </c:pt>
                <c:pt idx="3">
                  <c:v>4858</c:v>
                </c:pt>
                <c:pt idx="4">
                  <c:v>4700</c:v>
                </c:pt>
                <c:pt idx="5">
                  <c:v>4420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profit</c:v>
                </c:pt>
              </c:strCache>
            </c:strRef>
          </c:tx>
          <c:spPr>
            <a:ln>
              <a:solidFill>
                <a:srgbClr val="DCA449"/>
              </a:solidFill>
            </a:ln>
          </c:spPr>
          <c:cat>
            <c:strRef>
              <c:f>Sheet1!$A$2:$A$7</c:f>
              <c:strCache>
                <c:ptCount val="6"/>
                <c:pt idx="0">
                  <c:v>$20</c:v>
                </c:pt>
                <c:pt idx="1">
                  <c:v>$22</c:v>
                </c:pt>
                <c:pt idx="2">
                  <c:v>$24</c:v>
                </c:pt>
                <c:pt idx="3">
                  <c:v>$26</c:v>
                </c:pt>
                <c:pt idx="4">
                  <c:v>$28</c:v>
                </c:pt>
                <c:pt idx="5">
                  <c:v>$30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900</c:v>
                </c:pt>
                <c:pt idx="1">
                  <c:v>1120</c:v>
                </c:pt>
                <c:pt idx="2">
                  <c:v>1320</c:v>
                </c:pt>
                <c:pt idx="3">
                  <c:v>1546</c:v>
                </c:pt>
                <c:pt idx="4">
                  <c:v>1510</c:v>
                </c:pt>
                <c:pt idx="5">
                  <c:v>1430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PricePilot AI as a decision-support tool that helps businesses choose a practical price using historical demand, costs, competition, and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pricing affects customer demand, profitability, competitiveness, and inventory at the same time. This is why a structured recommendation is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user selects the business priority. The system supports the decision; it does not make an autonomous decision without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inputs in business language. The model uses 5,000 historical records from 2023 through 2024 and predicts units sold as the demand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five-step pipeline. The important idea for a non-technical audience is that the system evaluates several realistic price options instead of guessing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chart simply: the baseline is a useful reference, and Gradient Boosting performs best on the chronological test set with an R² of 0.762.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user interacts with the application. This is the clean front end: the audience enters business conditions and receives a recommendation without seeing the underlying project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demonstrate the result. The figures are an illustrative scenario layout; replace them with a screenshot of the actual recommendation generated by the app during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responsible use. PricePilot is decision support, not autonomous pricing. The recommendation should be reviewed alongside current market knowledge and business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summarizing the value: PricePilot predicts demand, compares pricing outcomes, and gives decision makers a transparent starting point. Mention the future improvements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6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51960" cy="6858000"/>
          </a:xfrm>
          <a:prstGeom prst="rect">
            <a:avLst/>
          </a:prstGeom>
          <a:solidFill>
            <a:srgbClr val="147D9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9640" y="96012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DCA449"/>
          </a:solidFill>
          <a:ln>
            <a:solidFill>
              <a:srgbClr val="DC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49640" y="1124712"/>
            <a:ext cx="2651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0E2637"/>
                </a:solidFill>
                <a:latin typeface="Aptos"/>
              </a:rPr>
              <a:t>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920240"/>
            <a:ext cx="2057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84832"/>
            <a:ext cx="2057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0E2637"/>
                </a:solidFill>
                <a:latin typeface="Aptos"/>
              </a:rPr>
              <a:t>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926080"/>
            <a:ext cx="2788920" cy="594360"/>
          </a:xfrm>
          <a:prstGeom prst="roundRect">
            <a:avLst>
              <a:gd name="adj" fmla="val 8000"/>
            </a:avLst>
          </a:prstGeom>
          <a:solidFill>
            <a:srgbClr val="E2F1EE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3090672"/>
            <a:ext cx="27889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0E2637"/>
                </a:solidFill>
                <a:latin typeface="Aptos"/>
              </a:rPr>
              <a:t>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3931920"/>
            <a:ext cx="2194560" cy="594360"/>
          </a:xfrm>
          <a:prstGeom prst="roundRect">
            <a:avLst>
              <a:gd name="adj" fmla="val 8000"/>
            </a:avLst>
          </a:prstGeom>
          <a:solidFill>
            <a:srgbClr val="DCA449"/>
          </a:solidFill>
          <a:ln>
            <a:solidFill>
              <a:srgbClr val="DC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096511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0E2637"/>
                </a:solidFill>
                <a:latin typeface="Aptos"/>
              </a:rPr>
              <a:t>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6217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DCA449"/>
                </a:solidFill>
                <a:latin typeface="Aptos"/>
              </a:rPr>
              <a:t>PRICEPILOT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6492240" cy="1874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Intelligent Retail
Price Recommendation
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585216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0">
                <a:solidFill>
                  <a:srgbClr val="E2F1EE"/>
                </a:solidFill>
                <a:latin typeface="Aptos"/>
              </a:rPr>
              <a:t>Turning sales data into practical pricing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6400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Presented by [Name]  |  [Institution]  |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The pricing decision is a balancing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400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0">
                <a:solidFill>
                  <a:srgbClr val="5B6C74"/>
                </a:solidFill>
                <a:latin typeface="Aptos"/>
              </a:rPr>
              <a:t>A price that looks attractive in one direction can create a problem somewhere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06040"/>
            <a:ext cx="21031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B7534F"/>
                </a:solidFill>
                <a:latin typeface="Aptos"/>
              </a:rPr>
              <a:t>Too 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54680"/>
            <a:ext cx="21031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Demand may rise, but margin disappears.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3317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2606040"/>
            <a:ext cx="21031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DCA449"/>
                </a:solidFill>
                <a:latin typeface="Aptos"/>
              </a:rPr>
              <a:t>Too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154680"/>
            <a:ext cx="21031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Margin improves, but sales may slow.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317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2606040"/>
            <a:ext cx="21031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147D92"/>
                </a:solidFill>
                <a:latin typeface="Aptos"/>
              </a:rPr>
              <a:t>Guesswork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154680"/>
            <a:ext cx="21031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Decisions become inconsistent and hard to defend.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98755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000" b="1">
                <a:solidFill>
                  <a:srgbClr val="0E2637"/>
                </a:solidFill>
                <a:latin typeface="Aptos"/>
              </a:rPr>
              <a:t>The goal is not simply the highest price. It is the strongest expected outcome under real business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THE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One recommendation, four business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80467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0">
                <a:solidFill>
                  <a:srgbClr val="5B6C74"/>
                </a:solidFill>
                <a:latin typeface="Aptos"/>
              </a:rPr>
              <a:t>PricePilot compares possible prices and makes the trade-off visible before a decision is approved.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828800" cy="1508760"/>
          </a:xfrm>
          <a:prstGeom prst="roundRect">
            <a:avLst>
              <a:gd name="adj" fmla="val 8000"/>
            </a:avLst>
          </a:prstGeom>
          <a:solidFill>
            <a:srgbClr val="147D92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93008"/>
            <a:ext cx="160934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Expected units sold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560320"/>
            <a:ext cx="1828800" cy="1508760"/>
          </a:xfrm>
          <a:prstGeom prst="roundRect">
            <a:avLst>
              <a:gd name="adj" fmla="val 8000"/>
            </a:avLst>
          </a:prstGeom>
          <a:solidFill>
            <a:srgbClr val="DCA449"/>
          </a:solidFill>
          <a:ln>
            <a:solidFill>
              <a:srgbClr val="DC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2944368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493008"/>
            <a:ext cx="160934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Sales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560320"/>
            <a:ext cx="1828800" cy="1508760"/>
          </a:xfrm>
          <a:prstGeom prst="roundRect">
            <a:avLst>
              <a:gd name="adj" fmla="val 8000"/>
            </a:avLst>
          </a:prstGeom>
          <a:solidFill>
            <a:srgbClr val="0E2637"/>
          </a:solidFill>
          <a:ln>
            <a:solidFill>
              <a:srgbClr val="0E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44368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493008"/>
            <a:ext cx="160934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Value after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560320"/>
            <a:ext cx="1828800" cy="1508760"/>
          </a:xfrm>
          <a:prstGeom prst="roundRect">
            <a:avLst>
              <a:gd name="adj" fmla="val 8000"/>
            </a:avLst>
          </a:prstGeom>
          <a:solidFill>
            <a:srgbClr val="B7534F"/>
          </a:solidFill>
          <a:ln>
            <a:solidFill>
              <a:srgbClr val="B7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944368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3493008"/>
            <a:ext cx="160934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Available supply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709160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147D92"/>
                </a:solidFill>
                <a:latin typeface="Aptos"/>
              </a:rPr>
              <a:t>Business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74920"/>
            <a:ext cx="6400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600" b="1">
                <a:solidFill>
                  <a:srgbClr val="0E2637"/>
                </a:solidFill>
                <a:latin typeface="Aptos"/>
              </a:rPr>
              <a:t>Maximize revenue  •  Maximize profit  •  Balanced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The model learns from the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95728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price floor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830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98424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Current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395728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starting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7830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198424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Competitor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1" y="2395728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market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17830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198424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1" y="2395728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supply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1839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9300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Promotion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904487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sales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291839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349300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Season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904487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time pattern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3291839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1" y="349300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1" y="3904487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customer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999" y="3291839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1" y="349300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E2637"/>
                </a:solidFill>
                <a:latin typeface="Aptos"/>
              </a:rPr>
              <a:t>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1" y="3904487"/>
            <a:ext cx="20574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observed 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292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157216"/>
            <a:ext cx="20574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HISTORICAL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5394960"/>
            <a:ext cx="2057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147D92"/>
                </a:solidFill>
                <a:latin typeface="Aptos"/>
              </a:rPr>
              <a:t>5,000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0292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3864" y="5157216"/>
            <a:ext cx="20574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DATA PERIOD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5394960"/>
            <a:ext cx="2057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DCA449"/>
                </a:solidFill>
                <a:latin typeface="Aptos"/>
              </a:rPr>
              <a:t>2023–2024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50292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44184" y="5157216"/>
            <a:ext cx="20574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44184" y="5394960"/>
            <a:ext cx="2057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0E2637"/>
                </a:solidFill>
                <a:latin typeface="Aptos"/>
              </a:rPr>
              <a:t>Units sold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200" y="50292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5157216"/>
            <a:ext cx="20574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4504" y="5394960"/>
            <a:ext cx="2057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B7534F"/>
                </a:solidFill>
                <a:latin typeface="Aptos"/>
              </a:rPr>
              <a:t>Chronological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From historical data to an actionable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147D92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41448"/>
            <a:ext cx="457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4173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Historical
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724912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500" b="1">
                <a:solidFill>
                  <a:srgbClr val="DCA44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24028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DCA449"/>
          </a:solidFill>
          <a:ln>
            <a:solidFill>
              <a:srgbClr val="DC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441448"/>
            <a:ext cx="457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788920"/>
            <a:ext cx="14173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Prepare
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24912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500" b="1">
                <a:solidFill>
                  <a:srgbClr val="DCA44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24028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0E2637"/>
          </a:solidFill>
          <a:ln>
            <a:solidFill>
              <a:srgbClr val="0E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441448"/>
            <a:ext cx="457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788920"/>
            <a:ext cx="14173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Predict
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724912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500" b="1">
                <a:solidFill>
                  <a:srgbClr val="DCA44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224028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147D92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2441448"/>
            <a:ext cx="457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788920"/>
            <a:ext cx="14173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Simulate
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724912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500" b="1">
                <a:solidFill>
                  <a:srgbClr val="DCA44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6648" y="224028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DCA449"/>
          </a:solidFill>
          <a:ln>
            <a:solidFill>
              <a:srgbClr val="DC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2441448"/>
            <a:ext cx="457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788920"/>
            <a:ext cx="14173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Recommend
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0E2637"/>
                </a:solidFill>
                <a:latin typeface="Aptos"/>
              </a:rPr>
              <a:t>The recommendation is based on the best expected outcome among tested scenarios, subject to cost and competitor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THE MACHINE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Gradient Boosting gives the strongest test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783080"/>
          <a:ext cx="6492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920240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240280"/>
            <a:ext cx="2560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5B6C74"/>
                </a:solidFill>
                <a:latin typeface="Aptos"/>
              </a:rPr>
              <a:t>Best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606040"/>
            <a:ext cx="26517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400" b="1">
                <a:solidFill>
                  <a:srgbClr val="0E2637"/>
                </a:solidFill>
                <a:latin typeface="Aptos"/>
              </a:rPr>
              <a:t>Gradient
Boosting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52044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147D92"/>
                </a:solidFill>
                <a:latin typeface="Aptos"/>
              </a:rPr>
              <a:t>R² = 0.762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709160"/>
            <a:ext cx="31546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Lower error and higher R² indicate better agreement with held-out historical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THE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A focused workflow for the decision 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34840"/>
          </a:xfrm>
          <a:prstGeom prst="roundRect">
            <a:avLst>
              <a:gd name="adj" fmla="val 8000"/>
            </a:avLst>
          </a:prstGeom>
          <a:solidFill>
            <a:srgbClr val="FAFCFB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21031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100" b="1">
                <a:solidFill>
                  <a:srgbClr val="0E2637"/>
                </a:solidFill>
                <a:latin typeface="Aptos"/>
              </a:rPr>
              <a:t>PricePilot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53035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5B6C74"/>
                </a:solidFill>
                <a:latin typeface="Aptos"/>
              </a:rPr>
              <a:t>A clear, data-informed price recommendation for every business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2286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SET THE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5B6C74"/>
                </a:solidFill>
                <a:latin typeface="Aptos"/>
              </a:rPr>
              <a:t>Product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40156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38728"/>
            <a:ext cx="16459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2A373E"/>
                </a:solidFill>
                <a:latin typeface="Aptos"/>
              </a:rPr>
              <a:t>Grocery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82112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5B6C74"/>
                </a:solidFill>
                <a:latin typeface="Aptos"/>
              </a:rPr>
              <a:t>Cost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40156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3538728"/>
            <a:ext cx="16459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2A373E"/>
                </a:solidFill>
                <a:latin typeface="Aptos"/>
              </a:rPr>
              <a:t>$18.00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82112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5B6C74"/>
                </a:solidFill>
                <a:latin typeface="Aptos"/>
              </a:rPr>
              <a:t>Current price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40156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538728"/>
            <a:ext cx="16459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2A373E"/>
                </a:solidFill>
                <a:latin typeface="Aptos"/>
              </a:rPr>
              <a:t>$24.00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82112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5B6C74"/>
                </a:solidFill>
                <a:latin typeface="Aptos"/>
              </a:rPr>
              <a:t>Competitor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40156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538728"/>
            <a:ext cx="16459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2A373E"/>
                </a:solidFill>
                <a:latin typeface="Aptos"/>
              </a:rPr>
              <a:t>$25.00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24528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2A373E"/>
                </a:solidFill>
                <a:latin typeface="Aptos"/>
              </a:rPr>
              <a:t>Inventory: 240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24528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2A373E"/>
                </a:solidFill>
                <a:latin typeface="Aptos"/>
              </a:rPr>
              <a:t>Promotion active  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24528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2A373E"/>
                </a:solidFill>
                <a:latin typeface="Aptos"/>
              </a:rPr>
              <a:t>Priority: Balanced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069080"/>
            <a:ext cx="1965960" cy="530352"/>
          </a:xfrm>
          <a:prstGeom prst="roundRect">
            <a:avLst>
              <a:gd name="adj" fmla="val 8000"/>
            </a:avLst>
          </a:prstGeom>
          <a:solidFill>
            <a:srgbClr val="147D92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242816"/>
            <a:ext cx="169164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89611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E2637"/>
                </a:solidFill>
                <a:latin typeface="Aptos"/>
              </a:rPr>
              <a:t>Recommendation results appear here after one click, with no code or technical files in the user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EXAMPLE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The output is a decision, not just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865376"/>
            <a:ext cx="17830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RECOMMENDED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103120"/>
            <a:ext cx="1783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147D92"/>
                </a:solidFill>
                <a:latin typeface="Aptos"/>
              </a:rPr>
              <a:t>$26.40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73736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1865376"/>
            <a:ext cx="17830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PREDICTED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103120"/>
            <a:ext cx="1783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0E2637"/>
                </a:solidFill>
                <a:latin typeface="Aptos"/>
              </a:rPr>
              <a:t>184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73736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1865376"/>
            <a:ext cx="17830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EXPECTED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2103120"/>
            <a:ext cx="1783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DCA449"/>
                </a:solidFill>
                <a:latin typeface="Aptos"/>
              </a:rPr>
              <a:t>$4,857.60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73736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3" y="1865376"/>
            <a:ext cx="17830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EXPECTED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3" y="2103120"/>
            <a:ext cx="1783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147D92"/>
                </a:solidFill>
                <a:latin typeface="Aptos"/>
              </a:rPr>
              <a:t>$1,545.60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737360"/>
            <a:ext cx="1691640" cy="86868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84664" y="1865376"/>
            <a:ext cx="14173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1">
                <a:solidFill>
                  <a:srgbClr val="5B6C74"/>
                </a:solidFill>
                <a:latin typeface="Aptos"/>
              </a:rP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4" y="2103120"/>
            <a:ext cx="1417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B7534F"/>
                </a:solidFill>
                <a:latin typeface="Aptos"/>
              </a:rPr>
              <a:t>31.8%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1005840" y="3063240"/>
          <a:ext cx="64922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909560" y="3246120"/>
            <a:ext cx="2926080" cy="192024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3529584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147D92"/>
                </a:solidFill>
                <a:latin typeface="Aptos"/>
              </a:rPr>
              <a:t>Why this option?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77639"/>
            <a:ext cx="228600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00" b="0">
                <a:solidFill>
                  <a:srgbClr val="2A373E"/>
                </a:solidFill>
                <a:latin typeface="Aptos"/>
              </a:rPr>
              <a:t>It produces the strongest expected outcome among the tested prices while respecting cost, competition, and inventory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BUSINESS VALUE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Useful guidance with transparent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3520440"/>
          </a:xfrm>
          <a:prstGeom prst="roundRect">
            <a:avLst>
              <a:gd name="adj" fmla="val 8000"/>
            </a:avLst>
          </a:prstGeom>
          <a:solidFill>
            <a:srgbClr val="E2F1EE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114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>
                <a:solidFill>
                  <a:srgbClr val="0E2637"/>
                </a:solidFill>
                <a:latin typeface="Aptos"/>
              </a:rPr>
              <a:t>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Faster, more consistent pricing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Better visibility into demand and margin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Practical support for inventory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Clear assumptions for human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074920" cy="352044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114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>
                <a:solidFill>
                  <a:srgbClr val="0E2637"/>
                </a:solidFill>
                <a:latin typeface="Aptos"/>
              </a:rPr>
              <a:t>Important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Historical patterns may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Competitor prices can become stale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Predictions are estimates, not guarantees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51960"/>
            <a:ext cx="4251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2A373E"/>
                </a:solidFill>
                <a:latin typeface="Aptos"/>
              </a:rPr>
              <a:t>•  A human approves the final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47D92"/>
                </a:solidFill>
                <a:latin typeface="Aptos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700" b="1">
                <a:solidFill>
                  <a:srgbClr val="0E2637"/>
                </a:solidFill>
                <a:latin typeface="Aptos Display"/>
              </a:rPr>
              <a:t>From data to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548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1">
                <a:solidFill>
                  <a:srgbClr val="5B6C74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1018520" cy="13716"/>
          </a:xfrm>
          <a:prstGeom prst="rect">
            <a:avLst/>
          </a:prstGeom>
          <a:solidFill>
            <a:srgbClr val="E2F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0584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500" b="1">
                <a:solidFill>
                  <a:srgbClr val="0E2637"/>
                </a:solidFill>
                <a:latin typeface="Aptos"/>
              </a:rPr>
              <a:t>PricePilot AI turns sales data into practical pricing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74320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E2F1EE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1" y="2971800"/>
            <a:ext cx="4114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147D9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1" y="3429000"/>
            <a:ext cx="1965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0E2637"/>
                </a:solidFill>
                <a:latin typeface="Aptos"/>
              </a:rPr>
              <a:t>Predict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4320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E2F1EE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971800"/>
            <a:ext cx="4114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147D9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29000"/>
            <a:ext cx="1965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0E2637"/>
                </a:solidFill>
                <a:latin typeface="Aptos"/>
              </a:rPr>
              <a:t>Compare outcomes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74320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E2F1EE"/>
          </a:solidFill>
          <a:ln>
            <a:solidFill>
              <a:srgbClr val="E2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971800"/>
            <a:ext cx="4114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147D9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429000"/>
            <a:ext cx="1965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0E2637"/>
                </a:solidFill>
                <a:latin typeface="Aptos"/>
              </a:rPr>
              <a:t>Support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5156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0">
                <a:solidFill>
                  <a:srgbClr val="5B6C74"/>
                </a:solidFill>
                <a:latin typeface="Aptos"/>
              </a:rPr>
              <a:t>Next: live sales data  •  real-time competitor prices  •  customer segments  •  A/B price testing  •  continuous retraining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000" b="1">
                <a:solidFill>
                  <a:srgbClr val="DCA44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